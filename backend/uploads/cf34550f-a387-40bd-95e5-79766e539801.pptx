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696" y="-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P9UykEJ3e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9HKO7YoWCU" TargetMode="External"/><Relationship Id="rId2" Type="http://schemas.openxmlformats.org/officeDocument/2006/relationships/hyperlink" Target="https://youtu.be/HcZ6bq-RVM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HWa8FAqk1KQ" TargetMode="External"/><Relationship Id="rId4" Type="http://schemas.openxmlformats.org/officeDocument/2006/relationships/hyperlink" Target="https://youtu.be/1AlxpytS4J0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Introduction to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47961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Definition: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AI is the </a:t>
            </a:r>
            <a:r>
              <a:rPr lang="en-US" sz="2400" b="1" dirty="0"/>
              <a:t>simulation of human intelligence</a:t>
            </a:r>
            <a:r>
              <a:rPr lang="en-US" sz="2400" dirty="0"/>
              <a:t> in machines that are programmed to think, learn, and solve problems like humans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Coined by </a:t>
            </a:r>
            <a:r>
              <a:rPr lang="en-US" sz="2400" b="1" dirty="0"/>
              <a:t>John McCarthy (1956)</a:t>
            </a:r>
            <a:endParaRPr lang="en-US" sz="2400" dirty="0"/>
          </a:p>
          <a:p>
            <a:r>
              <a:rPr lang="en-US" sz="2400" dirty="0"/>
              <a:t>Subfields: Machine Learning, NLP, Robotics, </a:t>
            </a:r>
            <a:r>
              <a:rPr lang="en-US" sz="2400" dirty="0" smtClean="0"/>
              <a:t>Vision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500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Automation of Tasks</a:t>
            </a:r>
          </a:p>
          <a:p>
            <a:r>
              <a:rPr lang="en-US" sz="2400" dirty="0"/>
              <a:t>Solving Complex Problems</a:t>
            </a:r>
          </a:p>
          <a:p>
            <a:r>
              <a:rPr lang="en-US" sz="2400" dirty="0"/>
              <a:t>Mimicking Human Intelligence</a:t>
            </a:r>
          </a:p>
          <a:p>
            <a:r>
              <a:rPr lang="en-US" sz="2400" dirty="0"/>
              <a:t>Learning from Experience (ML)</a:t>
            </a:r>
          </a:p>
          <a:p>
            <a:r>
              <a:rPr lang="en-US" sz="2400" dirty="0"/>
              <a:t>Reasoning &amp; Decision Making</a:t>
            </a:r>
          </a:p>
          <a:p>
            <a:r>
              <a:rPr lang="en-US" sz="2400" dirty="0"/>
              <a:t>Natural Interaction (Language, Vision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809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AI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623712"/>
              </p:ext>
            </p:extLst>
          </p:nvPr>
        </p:nvGraphicFramePr>
        <p:xfrm>
          <a:off x="990600" y="1504950"/>
          <a:ext cx="723900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49530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Key Developments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1950s-60s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Birth of AI (Turing Test, McCarthy)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1970s-80s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Expert Systems, LISP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1990s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AI in games (Deep Blue beats Kasparov)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2000s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Rise of ML and Data Mining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2010s+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Deep Learning, NLP, Autonomous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31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Categories/Types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Narrow AI (Weak AI)</a:t>
            </a:r>
            <a:endParaRPr lang="en-IN" dirty="0"/>
          </a:p>
          <a:p>
            <a:pPr lvl="1"/>
            <a:r>
              <a:rPr lang="en-IN" dirty="0"/>
              <a:t>Performs specific tasks</a:t>
            </a:r>
          </a:p>
          <a:p>
            <a:pPr lvl="1"/>
            <a:r>
              <a:rPr lang="en-IN" dirty="0"/>
              <a:t>Ex: Siri, Google Translate</a:t>
            </a:r>
          </a:p>
          <a:p>
            <a:r>
              <a:rPr lang="en-IN" b="1" dirty="0"/>
              <a:t>General AI (Strong AI)</a:t>
            </a:r>
            <a:endParaRPr lang="en-IN" dirty="0"/>
          </a:p>
          <a:p>
            <a:pPr lvl="1"/>
            <a:r>
              <a:rPr lang="en-IN" dirty="0"/>
              <a:t>Can perform any intellectual task like a human</a:t>
            </a:r>
          </a:p>
          <a:p>
            <a:pPr lvl="1"/>
            <a:r>
              <a:rPr lang="en-IN" dirty="0"/>
              <a:t>Still hypothetical</a:t>
            </a:r>
          </a:p>
          <a:p>
            <a:r>
              <a:rPr lang="en-IN" b="1" dirty="0"/>
              <a:t>Superintelligence</a:t>
            </a:r>
            <a:endParaRPr lang="en-IN" dirty="0"/>
          </a:p>
          <a:p>
            <a:pPr lvl="1"/>
            <a:r>
              <a:rPr lang="en-IN" dirty="0"/>
              <a:t>Exceeds human intelligence</a:t>
            </a:r>
          </a:p>
          <a:p>
            <a:pPr lvl="1"/>
            <a:r>
              <a:rPr lang="en-IN" dirty="0"/>
              <a:t>Potential future AI; raises ethical </a:t>
            </a:r>
            <a:r>
              <a:rPr lang="en-IN" dirty="0" smtClean="0"/>
              <a:t>concerns</a:t>
            </a:r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What is artificial general intelligence? | Ian </a:t>
            </a:r>
            <a:r>
              <a:rPr lang="en-US" dirty="0" err="1">
                <a:hlinkClick r:id="rId2"/>
              </a:rPr>
              <a:t>Bremmer</a:t>
            </a:r>
            <a:r>
              <a:rPr lang="en-US" dirty="0">
                <a:hlinkClick r:id="rId2"/>
              </a:rPr>
              <a:t> Explains - YouTube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94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AI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927565"/>
              </p:ext>
            </p:extLst>
          </p:nvPr>
        </p:nvGraphicFramePr>
        <p:xfrm>
          <a:off x="457200" y="173355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Narrow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Task-specific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Chatbots, Alexa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Existing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General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Human-level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Human-like robots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Superintelligence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Beyond humans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/>
                        <a:t>Theoretical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Future 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3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Healthcare diagnosis</a:t>
            </a:r>
          </a:p>
          <a:p>
            <a:r>
              <a:rPr lang="en-IN" sz="2400" dirty="0"/>
              <a:t>Autonomous vehicles</a:t>
            </a:r>
          </a:p>
          <a:p>
            <a:r>
              <a:rPr lang="en-IN" sz="2400" dirty="0"/>
              <a:t>Finance (fraud detection)</a:t>
            </a:r>
          </a:p>
          <a:p>
            <a:r>
              <a:rPr lang="en-IN" sz="2400" dirty="0"/>
              <a:t>Smart assistants</a:t>
            </a:r>
          </a:p>
          <a:p>
            <a:r>
              <a:rPr lang="en-IN" sz="2400" dirty="0"/>
              <a:t>Robotics</a:t>
            </a:r>
          </a:p>
          <a:p>
            <a:r>
              <a:rPr lang="en-IN" sz="2400" dirty="0"/>
              <a:t>Recommendation </a:t>
            </a:r>
            <a:r>
              <a:rPr lang="en-IN" sz="2400" dirty="0" smtClean="0"/>
              <a:t>systems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583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8686800" cy="3394472"/>
          </a:xfrm>
        </p:spPr>
        <p:txBody>
          <a:bodyPr>
            <a:normAutofit/>
          </a:bodyPr>
          <a:lstStyle/>
          <a:p>
            <a:r>
              <a:rPr lang="en-US" sz="2800" dirty="0"/>
              <a:t>AI simulates human intelligence for real-world applications</a:t>
            </a:r>
          </a:p>
          <a:p>
            <a:r>
              <a:rPr lang="en-US" sz="2800" dirty="0"/>
              <a:t>Evolved over decades with rapid growth in recent years</a:t>
            </a:r>
          </a:p>
          <a:p>
            <a:r>
              <a:rPr lang="en-US" sz="2800" dirty="0"/>
              <a:t>Three main types: Narrow, General, Superintelligence</a:t>
            </a:r>
          </a:p>
          <a:p>
            <a:r>
              <a:rPr lang="en-US" sz="2800" dirty="0"/>
              <a:t>Goal: Build systems that learn, adapt, and act </a:t>
            </a:r>
            <a:r>
              <a:rPr lang="en-US" sz="2800" dirty="0" smtClean="0"/>
              <a:t>intelligently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391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Youtube</a:t>
            </a:r>
            <a:r>
              <a:rPr lang="en-IN" dirty="0" smtClean="0"/>
              <a:t> Videos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 smtClean="0">
                <a:hlinkClick r:id="rId2"/>
              </a:rPr>
              <a:t>Intro: https</a:t>
            </a:r>
            <a:r>
              <a:rPr lang="en-IN" sz="2400" dirty="0">
                <a:hlinkClick r:id="rId2"/>
              </a:rPr>
              <a:t>://</a:t>
            </a:r>
            <a:r>
              <a:rPr lang="en-IN" sz="2400" dirty="0" smtClean="0">
                <a:hlinkClick r:id="rId2"/>
              </a:rPr>
              <a:t>youtu.be/HcZ6bq-RVM0</a:t>
            </a:r>
            <a:endParaRPr lang="en-IN" sz="2400" dirty="0" smtClean="0"/>
          </a:p>
          <a:p>
            <a:r>
              <a:rPr lang="en-IN" sz="2400" dirty="0" smtClean="0"/>
              <a:t>History: </a:t>
            </a:r>
            <a:r>
              <a:rPr lang="en-IN" sz="2400" dirty="0" smtClean="0">
                <a:hlinkClick r:id="rId3"/>
              </a:rPr>
              <a:t>https</a:t>
            </a:r>
            <a:r>
              <a:rPr lang="en-IN" sz="2400" dirty="0">
                <a:hlinkClick r:id="rId3"/>
              </a:rPr>
              <a:t>://</a:t>
            </a:r>
            <a:r>
              <a:rPr lang="en-IN" sz="2400" dirty="0" smtClean="0">
                <a:hlinkClick r:id="rId3"/>
              </a:rPr>
              <a:t>youtu.be/Z9HKO7YoWCU</a:t>
            </a:r>
            <a:endParaRPr lang="en-IN" sz="2400" dirty="0" smtClean="0"/>
          </a:p>
          <a:p>
            <a:r>
              <a:rPr lang="en-IN" sz="2400" dirty="0" smtClean="0"/>
              <a:t>AI's evolution</a:t>
            </a:r>
            <a:r>
              <a:rPr lang="en-IN" sz="2400" dirty="0"/>
              <a:t>: </a:t>
            </a:r>
            <a:r>
              <a:rPr lang="en-IN" sz="2400" dirty="0">
                <a:hlinkClick r:id="rId4"/>
              </a:rPr>
              <a:t>https://</a:t>
            </a:r>
            <a:r>
              <a:rPr lang="en-IN" sz="2400" dirty="0" smtClean="0">
                <a:hlinkClick r:id="rId4"/>
              </a:rPr>
              <a:t>youtu.be/1AlxpytS4J0</a:t>
            </a:r>
            <a:endParaRPr lang="en-IN" sz="2400" dirty="0" smtClean="0"/>
          </a:p>
          <a:p>
            <a:r>
              <a:rPr lang="en-IN" sz="2400" dirty="0"/>
              <a:t>Application: </a:t>
            </a:r>
            <a:r>
              <a:rPr lang="en-IN" sz="2400" dirty="0">
                <a:hlinkClick r:id="rId5"/>
              </a:rPr>
              <a:t>https://</a:t>
            </a:r>
            <a:r>
              <a:rPr lang="en-IN" sz="2400" dirty="0" smtClean="0">
                <a:hlinkClick r:id="rId5"/>
              </a:rPr>
              <a:t>youtu.be/HWa8FAqk1KQ</a:t>
            </a:r>
            <a:endParaRPr lang="en-IN" sz="2400" dirty="0" smtClean="0"/>
          </a:p>
          <a:p>
            <a:r>
              <a:rPr lang="en-IN" sz="2400" dirty="0"/>
              <a:t>AlphaGo: https://www.youtube.com/watch?v=8dMFJpEGNLQ&amp;pp=ygUHYWxwaGFnbw%3D%3D</a:t>
            </a:r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196183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Intelligent Agents and Environments</a:t>
            </a:r>
          </a:p>
        </p:txBody>
      </p:sp>
    </p:spTree>
    <p:extLst>
      <p:ext uri="{BB962C8B-B14F-4D97-AF65-F5344CB8AC3E}">
        <p14:creationId xmlns:p14="http://schemas.microsoft.com/office/powerpoint/2010/main" val="308305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Intelligent Agent?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agent</a:t>
            </a:r>
            <a:r>
              <a:rPr lang="en-US" dirty="0"/>
              <a:t> perceives its environment and acts upon it</a:t>
            </a:r>
          </a:p>
          <a:p>
            <a:r>
              <a:rPr lang="en-US" dirty="0"/>
              <a:t>Goal: </a:t>
            </a:r>
            <a:r>
              <a:rPr lang="en-US" b="1" dirty="0"/>
              <a:t>Maximize performance</a:t>
            </a:r>
            <a:r>
              <a:rPr lang="en-US" dirty="0"/>
              <a:t> based on perception</a:t>
            </a:r>
          </a:p>
          <a:p>
            <a:r>
              <a:rPr lang="en-US" b="1" dirty="0"/>
              <a:t>Components:</a:t>
            </a:r>
            <a:endParaRPr lang="en-US" dirty="0"/>
          </a:p>
          <a:p>
            <a:pPr lvl="1"/>
            <a:r>
              <a:rPr lang="en-US" b="1" dirty="0" smtClean="0"/>
              <a:t>Sensors</a:t>
            </a:r>
            <a:r>
              <a:rPr lang="en-US" dirty="0"/>
              <a:t>: Gather data from the environment (e.g., a camera, thermometer).</a:t>
            </a:r>
          </a:p>
          <a:p>
            <a:pPr lvl="1"/>
            <a:r>
              <a:rPr lang="en-US" b="1" dirty="0"/>
              <a:t>Actuators</a:t>
            </a:r>
            <a:r>
              <a:rPr lang="en-US" dirty="0"/>
              <a:t>: Perform actions (e.g., motor, speaker).</a:t>
            </a:r>
          </a:p>
          <a:p>
            <a:pPr lvl="1"/>
            <a:r>
              <a:rPr lang="en-US" b="1" dirty="0"/>
              <a:t>Percept</a:t>
            </a:r>
            <a:r>
              <a:rPr lang="en-US" dirty="0"/>
              <a:t>: What the agent perceives at a moment.</a:t>
            </a:r>
          </a:p>
          <a:p>
            <a:pPr lvl="1"/>
            <a:r>
              <a:rPr lang="en-US" b="1" dirty="0"/>
              <a:t>Percept Sequence</a:t>
            </a:r>
            <a:r>
              <a:rPr lang="en-US" dirty="0"/>
              <a:t>: History of all percepts.</a:t>
            </a:r>
          </a:p>
          <a:p>
            <a:pPr lvl="1"/>
            <a:r>
              <a:rPr lang="en-US" b="1" dirty="0"/>
              <a:t>Agent Function</a:t>
            </a:r>
            <a:r>
              <a:rPr lang="en-US" dirty="0"/>
              <a:t>: Maps percept sequences to actions.</a:t>
            </a:r>
          </a:p>
          <a:p>
            <a:pPr lvl="1"/>
            <a:r>
              <a:rPr lang="en-US" b="1" dirty="0"/>
              <a:t>Agent Program</a:t>
            </a:r>
            <a:r>
              <a:rPr lang="en-US" dirty="0"/>
              <a:t>: Implements the agent function on a physical machine.</a:t>
            </a:r>
          </a:p>
        </p:txBody>
      </p:sp>
    </p:spTree>
    <p:extLst>
      <p:ext uri="{BB962C8B-B14F-4D97-AF65-F5344CB8AC3E}">
        <p14:creationId xmlns:p14="http://schemas.microsoft.com/office/powerpoint/2010/main" val="228861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Function vs Agent Program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404531"/>
              </p:ext>
            </p:extLst>
          </p:nvPr>
        </p:nvGraphicFramePr>
        <p:xfrm>
          <a:off x="762000" y="1885950"/>
          <a:ext cx="754380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Term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Agent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Maps percept sequences to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Agent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implementation of the agent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99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Intelligent Agents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41051"/>
              </p:ext>
            </p:extLst>
          </p:nvPr>
        </p:nvGraphicFramePr>
        <p:xfrm>
          <a:off x="457200" y="1388427"/>
          <a:ext cx="8229600" cy="2743200"/>
        </p:xfrm>
        <a:graphic>
          <a:graphicData uri="http://schemas.openxmlformats.org/drawingml/2006/table">
            <a:tbl>
              <a:tblPr/>
              <a:tblGrid>
                <a:gridCol w="2971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Simple Reflex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Acts only on current percept. No memory.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Model-based Reflex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Maintains internal state to handle partially observable environments.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Goal-based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goals to choose among alternatives.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Utility-based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utility function to make decisions when goals conflict.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Learning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Improves performance over time via learning.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28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Environment?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context in which agent operates</a:t>
            </a:r>
          </a:p>
          <a:p>
            <a:r>
              <a:rPr lang="en-US" dirty="0"/>
              <a:t>Includes anything agent can </a:t>
            </a:r>
            <a:r>
              <a:rPr lang="en-US" b="1" dirty="0"/>
              <a:t>sense</a:t>
            </a:r>
            <a:r>
              <a:rPr lang="en-US" dirty="0"/>
              <a:t> and </a:t>
            </a:r>
            <a:r>
              <a:rPr lang="en-US" b="1" dirty="0"/>
              <a:t>act </a:t>
            </a:r>
            <a:r>
              <a:rPr lang="en-US" b="1" dirty="0" smtClean="0"/>
              <a:t>upon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Environments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3422093"/>
              </p:ext>
            </p:extLst>
          </p:nvPr>
        </p:nvGraphicFramePr>
        <p:xfrm>
          <a:off x="457197" y="1157886"/>
          <a:ext cx="8001002" cy="3464516"/>
        </p:xfrm>
        <a:graphic>
          <a:graphicData uri="http://schemas.openxmlformats.org/drawingml/2006/table">
            <a:tbl>
              <a:tblPr/>
              <a:tblGrid>
                <a:gridCol w="3352803"/>
                <a:gridCol w="4648199"/>
              </a:tblGrid>
              <a:tr h="315728">
                <a:tc>
                  <a:txBody>
                    <a:bodyPr/>
                    <a:lstStyle/>
                    <a:p>
                      <a:r>
                        <a:rPr lang="en-IN" sz="1600" b="1"/>
                        <a:t>Property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Description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24">
                <a:tc>
                  <a:txBody>
                    <a:bodyPr/>
                    <a:lstStyle/>
                    <a:p>
                      <a:r>
                        <a:rPr lang="en-IN" sz="1600" b="1"/>
                        <a:t>Observable vs. Partially Observable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Can the agent access the complete state of the environment?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24">
                <a:tc>
                  <a:txBody>
                    <a:bodyPr/>
                    <a:lstStyle/>
                    <a:p>
                      <a:r>
                        <a:rPr lang="en-IN" sz="1600" b="1"/>
                        <a:t>Deterministic vs. Stochastic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 outcomes predictable based on current state and actions?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24">
                <a:tc>
                  <a:txBody>
                    <a:bodyPr/>
                    <a:lstStyle/>
                    <a:p>
                      <a:r>
                        <a:rPr lang="en-IN" sz="1600" b="1"/>
                        <a:t>Episodic vs. Sequential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Is each experience independent, or does it depend on previous ones?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24">
                <a:tc>
                  <a:txBody>
                    <a:bodyPr/>
                    <a:lstStyle/>
                    <a:p>
                      <a:r>
                        <a:rPr lang="en-IN" sz="1600" b="1"/>
                        <a:t>Static vs. Dynamic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Does the environment change while the agent is thinking?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728">
                <a:tc>
                  <a:txBody>
                    <a:bodyPr/>
                    <a:lstStyle/>
                    <a:p>
                      <a:r>
                        <a:rPr lang="en-IN" sz="1600" b="1"/>
                        <a:t>Discrete vs. Continuous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Are percepts/actions finite or infinite?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24">
                <a:tc>
                  <a:txBody>
                    <a:bodyPr/>
                    <a:lstStyle/>
                    <a:p>
                      <a:r>
                        <a:rPr lang="en-IN" sz="1600" b="1"/>
                        <a:t>Single agent vs. Multi-agent</a:t>
                      </a:r>
                      <a:endParaRPr lang="en-IN" sz="1600"/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Is the agent alone or interacting with others?</a:t>
                      </a:r>
                    </a:p>
                  </a:txBody>
                  <a:tcPr marL="78932" marR="78932" marT="39466" marB="394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380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Self-Driving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b="1" dirty="0"/>
              <a:t>Sensors</a:t>
            </a:r>
            <a:r>
              <a:rPr lang="en-IN" sz="2800" dirty="0"/>
              <a:t>: Camera, Radar, GPS</a:t>
            </a:r>
          </a:p>
          <a:p>
            <a:r>
              <a:rPr lang="en-IN" sz="2800" b="1" dirty="0"/>
              <a:t>Actuators</a:t>
            </a:r>
            <a:r>
              <a:rPr lang="en-IN" sz="2800" dirty="0"/>
              <a:t>: Steering, Acceleration, Braking</a:t>
            </a:r>
          </a:p>
          <a:p>
            <a:r>
              <a:rPr lang="en-IN" sz="2800" b="1" dirty="0"/>
              <a:t>Type</a:t>
            </a:r>
            <a:r>
              <a:rPr lang="en-IN" sz="2800" dirty="0"/>
              <a:t>: Learning + Goal-based Agent</a:t>
            </a:r>
          </a:p>
          <a:p>
            <a:r>
              <a:rPr lang="en-IN" sz="2800" b="1" dirty="0"/>
              <a:t>Environment</a:t>
            </a:r>
            <a:r>
              <a:rPr lang="en-IN" sz="2800" dirty="0"/>
              <a:t>: Dynamic, Stochastic, </a:t>
            </a:r>
            <a:r>
              <a:rPr lang="en-IN" sz="2800" dirty="0" smtClean="0"/>
              <a:t>Multi-agent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0474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Agents interact with environments using sensors and actuators</a:t>
            </a:r>
          </a:p>
          <a:p>
            <a:r>
              <a:rPr lang="en-US" sz="2400" dirty="0"/>
              <a:t>Agent types vary by complexity and goal orientation</a:t>
            </a:r>
          </a:p>
          <a:p>
            <a:r>
              <a:rPr lang="en-US" sz="2400" dirty="0"/>
              <a:t>Environments differ by observability, determinism, etc.</a:t>
            </a:r>
          </a:p>
          <a:p>
            <a:r>
              <a:rPr lang="en-US" sz="2400" dirty="0"/>
              <a:t>Real-world examples: robots, virtual assistants, autonomous </a:t>
            </a:r>
            <a:r>
              <a:rPr lang="en-US" sz="2400" dirty="0" smtClean="0"/>
              <a:t>vehicles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645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607</Words>
  <Application>Microsoft Office PowerPoint</Application>
  <PresentationFormat>On-screen Show (16:9)</PresentationFormat>
  <Paragraphs>131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Introduction to Artificial Intelligence</vt:lpstr>
      <vt:lpstr>What is Artificial Intelligence?</vt:lpstr>
      <vt:lpstr>Goals of AI</vt:lpstr>
      <vt:lpstr>History of AI</vt:lpstr>
      <vt:lpstr>Categories/Types of AI</vt:lpstr>
      <vt:lpstr>Comparison of AI Types</vt:lpstr>
      <vt:lpstr>Applications of AI</vt:lpstr>
      <vt:lpstr>Summary</vt:lpstr>
      <vt:lpstr>Youtube Videos</vt:lpstr>
      <vt:lpstr>Intelligent Agents and Environments</vt:lpstr>
      <vt:lpstr>What is an Intelligent Agent?</vt:lpstr>
      <vt:lpstr>Agent Function vs Agent Program</vt:lpstr>
      <vt:lpstr>Types of Intelligent Agents</vt:lpstr>
      <vt:lpstr>What is an Environment?</vt:lpstr>
      <vt:lpstr>Properties of Environments</vt:lpstr>
      <vt:lpstr>Example – Self-Driving Car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Agents and Environments</dc:title>
  <dc:creator>Admin</dc:creator>
  <cp:lastModifiedBy>Admin</cp:lastModifiedBy>
  <cp:revision>46</cp:revision>
  <dcterms:created xsi:type="dcterms:W3CDTF">2006-08-16T00:00:00Z</dcterms:created>
  <dcterms:modified xsi:type="dcterms:W3CDTF">2025-07-15T07:13:46Z</dcterms:modified>
</cp:coreProperties>
</file>